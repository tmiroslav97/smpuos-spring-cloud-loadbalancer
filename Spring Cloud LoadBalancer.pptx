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4" r:id="rId8"/>
    <p:sldId id="263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8168EA-EE1F-67A6-A7F1-AC5A56FD51BE}" v="2860" dt="2021-01-13T14:24:53.102"/>
    <p1510:client id="{56F05C59-22B1-40B1-8997-78A37834A680}" v="1610" dt="2021-01-09T23:17:05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9937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5409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42602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12693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632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1/13/2021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3848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1/13/2021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0726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05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66031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68591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48614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079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spring.io/spring-cloud-commons/reference/html/#default-loadbalancer-cache-implementation" TargetMode="External"/><Relationship Id="rId2" Type="http://schemas.openxmlformats.org/officeDocument/2006/relationships/hyperlink" Target="https://github.com/ben-manes/caffein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miroslav97/SMPUOS-spring-cloud-loadbalance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&#160;https:/spring.io/guides/gs/spring-cloud-loadbalancer/" TargetMode="External"/><Relationship Id="rId2" Type="http://schemas.openxmlformats.org/officeDocument/2006/relationships/hyperlink" Target="https://cloud.spring.io/spring-cloud-commons/reference/html/#spring-cloud-loadbalanc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Load_balancing_(computing)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Cloud </a:t>
            </a:r>
            <a:r>
              <a:rPr lang="en-US" dirty="0" err="1"/>
              <a:t>LoadBalancer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/>
              <a:t>Student: Miroslav Tomić</a:t>
            </a:r>
          </a:p>
          <a:p>
            <a:r>
              <a:rPr lang="sr-Latn-RS" dirty="0"/>
              <a:t>Asistent: Marko </a:t>
            </a:r>
            <a:r>
              <a:rPr lang="sr-Latn-RS" dirty="0" err="1"/>
              <a:t>Vještica</a:t>
            </a:r>
          </a:p>
          <a:p>
            <a:r>
              <a:rPr lang="sr-Latn-RS" dirty="0"/>
              <a:t>Profesor: Vladimir Ivančević</a:t>
            </a:r>
          </a:p>
        </p:txBody>
      </p:sp>
    </p:spTree>
    <p:extLst>
      <p:ext uri="{BB962C8B-B14F-4D97-AF65-F5344CB8AC3E}">
        <p14:creationId xmlns:p14="http://schemas.microsoft.com/office/powerpoint/2010/main" val="176570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5CDB9-6C23-4EEB-8A15-FF99A58E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Šta je load balancing?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57296-15F4-415C-91D2-C039CCAD5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264795" lvl="1"/>
            <a:r>
              <a:rPr lang="en-US">
                <a:solidFill>
                  <a:srgbClr val="FFFFFF"/>
                </a:solidFill>
              </a:rPr>
              <a:t>Load balancing se odnosi na proces raspodjele skupa zadataka preko skupa resursa sa ciljem da njihova obrada bude efikasnija.</a:t>
            </a:r>
            <a:endParaRPr lang="en-US"/>
          </a:p>
          <a:p>
            <a:pPr marL="264795" lvl="1"/>
            <a:r>
              <a:rPr lang="en-US">
                <a:solidFill>
                  <a:srgbClr val="FFFFFF"/>
                </a:solidFill>
              </a:rPr>
              <a:t>Postoje različite tehnike balansiranja koje mogu optimizovati vrijeme odziva za svaki zadatak, ovim se izbjegava neravnomjerno opterećenje čvorova.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254D02E-3B07-4BB2-AEDF-2C5033954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21651"/>
            <a:ext cx="5455921" cy="421469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9953D-DE08-48B4-9BA2-872B4F6C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1C947-8EDB-46B9-8BC6-DDEC4EDB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Algoritmi load balancing-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E9B33-71CE-4DD4-902E-C8A785E3B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/>
              <a:buChar char="§"/>
            </a:pPr>
            <a:r>
              <a:rPr lang="en-US"/>
              <a:t> Round Robin</a:t>
            </a:r>
          </a:p>
          <a:p>
            <a:pPr>
              <a:buFont typeface="Wingdings"/>
              <a:buChar char="§"/>
            </a:pPr>
            <a:r>
              <a:rPr lang="en-US"/>
              <a:t> Weighted Round Robin</a:t>
            </a:r>
          </a:p>
          <a:p>
            <a:pPr>
              <a:buFont typeface="Wingdings"/>
              <a:buChar char="§"/>
            </a:pPr>
            <a:r>
              <a:rPr lang="en-US"/>
              <a:t> Least Connection</a:t>
            </a:r>
          </a:p>
          <a:p>
            <a:pPr>
              <a:buFont typeface="Wingdings"/>
              <a:buChar char="§"/>
            </a:pPr>
            <a:r>
              <a:rPr lang="en-US"/>
              <a:t> Weighted Least Connection</a:t>
            </a:r>
          </a:p>
          <a:p>
            <a:pPr>
              <a:buFont typeface="Wingdings"/>
              <a:buChar char="§"/>
            </a:pPr>
            <a:r>
              <a:rPr lang="en-US"/>
              <a:t> Resource Based (Adaptive)</a:t>
            </a:r>
          </a:p>
          <a:p>
            <a:pPr>
              <a:buFont typeface="Wingdings"/>
              <a:buChar char="§"/>
            </a:pPr>
            <a:r>
              <a:rPr lang="en-US"/>
              <a:t> Weighted Response Time</a:t>
            </a:r>
          </a:p>
          <a:p>
            <a:pPr>
              <a:buFont typeface="Wingdings"/>
              <a:buChar char="§"/>
            </a:pPr>
            <a:r>
              <a:rPr lang="en-US"/>
              <a:t> URL Hash</a:t>
            </a:r>
          </a:p>
          <a:p>
            <a:pPr>
              <a:buFont typeface="Wingdings"/>
              <a:buChar char="§"/>
            </a:pPr>
            <a:r>
              <a:rPr lang="en-US"/>
              <a:t> …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FE9D8-4ECC-4771-814B-C94E656C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05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928B-80E5-4339-B3BA-D8C697F6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Spring Cloud LoadBalancer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8055-87FD-4A5D-8432-2660A65EC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20B0602020104020603" pitchFamily="34" charset="0"/>
              <a:buChar char="§"/>
            </a:pPr>
            <a:r>
              <a:rPr lang="en-US"/>
              <a:t> Spring Cloud LoadBalancer je komponenta open source Spring Cloud biblioteke.</a:t>
            </a:r>
          </a:p>
          <a:p>
            <a:pPr>
              <a:buFont typeface="Wingdings" panose="020B0602020104020603" pitchFamily="34" charset="0"/>
              <a:buChar char="§"/>
            </a:pPr>
            <a:r>
              <a:rPr lang="en-US"/>
              <a:t> Ova komponenta je trenutno u fazi razvoja i još uvijek nema mnogo članaka na internetu u cilju prikazivanja rada,odnosno nema mnogo korisničkih implementacija.</a:t>
            </a:r>
          </a:p>
          <a:p>
            <a:pPr>
              <a:buFont typeface="Wingdings" panose="020B0602020104020603" pitchFamily="34" charset="0"/>
              <a:buChar char="§"/>
            </a:pPr>
            <a:r>
              <a:rPr lang="en-US">
                <a:ea typeface="+mn-lt"/>
                <a:cs typeface="+mn-lt"/>
              </a:rPr>
              <a:t> Netflix Ribbon klijent (prethodnik spring cloud loadbalancera) je stable verzija LoadBalancer- a koja se još uvijek koristi u gotovo svim Spring Boot projektima međutim ova komponenta se više ne razvija.</a:t>
            </a:r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87DEF-0B87-4E01-B91A-B14C9A3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0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928B-80E5-4339-B3BA-D8C697F6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Spring Cloud LoadBalancer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8055-87FD-4A5D-8432-2660A65EC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20B0602020104020603" pitchFamily="34" charset="0"/>
              <a:buChar char="§"/>
            </a:pPr>
            <a:r>
              <a:rPr lang="en-US"/>
              <a:t> Spring Cloud LoadBalancer trenutno ne nudi posebne (već implementirane) funkcionalnosti vezane za load balancing, ali će u narednim verzijama biti proširen raznim funkcionalnostima.</a:t>
            </a:r>
          </a:p>
          <a:p>
            <a:pPr>
              <a:buFont typeface="Wingdings" panose="020B0602020104020603" pitchFamily="34" charset="0"/>
              <a:buChar char="§"/>
            </a:pPr>
            <a:r>
              <a:rPr lang="en-US"/>
              <a:t> Sav nedostatak posebnih funkcionalnosti može biti nadoknađen ručnom implementacijom.</a:t>
            </a:r>
            <a:endParaRPr lang="en-US" dirty="0"/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ECAEA-2A72-4E65-AD0A-D58398F9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12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928B-80E5-4339-B3BA-D8C697F6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Spring Cloud LoadBalancer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8055-87FD-4A5D-8432-2660A65EC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20B0602020104020603" pitchFamily="34" charset="0"/>
              <a:buChar char="§"/>
            </a:pPr>
            <a:r>
              <a:rPr lang="en-US"/>
              <a:t> Obezbjeđuje svoj client-side load-balancer apstrakciju i implementaciju.</a:t>
            </a:r>
          </a:p>
          <a:p>
            <a:pPr>
              <a:buFont typeface="Wingdings" panose="020B0602020104020603" pitchFamily="34" charset="0"/>
              <a:buChar char="§"/>
            </a:pPr>
            <a:r>
              <a:rPr lang="en-US"/>
              <a:t> Za load-balancing mehanizam </a:t>
            </a:r>
            <a:r>
              <a:rPr lang="en-US" i="1"/>
              <a:t>ReactiveLoadBalancer</a:t>
            </a:r>
            <a:r>
              <a:rPr lang="en-US"/>
              <a:t> interfejs je dodat i Round-Robin kao podrazumjevana implementacija za njega.</a:t>
            </a:r>
            <a:endParaRPr lang="en-US" i="1" dirty="0"/>
          </a:p>
          <a:p>
            <a:pPr>
              <a:buFont typeface="Wingdings" panose="020B0602020104020603" pitchFamily="34" charset="0"/>
              <a:buChar char="§"/>
            </a:pPr>
            <a:r>
              <a:rPr lang="en-US"/>
              <a:t> Da bi se dobile instance aplikacije kojima se dodjeljuju zadaci neophodno je koristiti </a:t>
            </a:r>
            <a:r>
              <a:rPr lang="en-US" i="1"/>
              <a:t>ServiceInstanceListSupplier</a:t>
            </a:r>
            <a:r>
              <a:rPr lang="en-US"/>
              <a:t>. </a:t>
            </a:r>
            <a:endParaRPr lang="en-US" dirty="0"/>
          </a:p>
          <a:p>
            <a:pPr>
              <a:buFont typeface="Wingdings" panose="020B0602020104020603" pitchFamily="34" charset="0"/>
              <a:buChar char="§"/>
            </a:pPr>
            <a:r>
              <a:rPr lang="en-US"/>
              <a:t> Trenutno postoji podrška za service-discovery-based implementaciju </a:t>
            </a:r>
            <a:r>
              <a:rPr lang="en-US" i="1">
                <a:ea typeface="+mn-lt"/>
                <a:cs typeface="+mn-lt"/>
              </a:rPr>
              <a:t>ServiceInstanceListSupplier</a:t>
            </a:r>
            <a:r>
              <a:rPr lang="en-US">
                <a:ea typeface="+mn-lt"/>
                <a:cs typeface="+mn-lt"/>
              </a:rPr>
              <a:t> koja preuzima dostupne instance iz Service Discovery- a koristeći Discovery Client koji je dostupan u classpath- u.</a:t>
            </a:r>
            <a:endParaRPr lang="en-US" dirty="0"/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6E4A5-AD4A-4580-B4A6-E8277A39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15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928B-80E5-4339-B3BA-D8C697F6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Spring Cloud LoadBalancer - integrations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8055-87FD-4A5D-8432-2660A65EC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20B0602020104020603" pitchFamily="34" charset="0"/>
              <a:buChar char="§"/>
            </a:pPr>
            <a:r>
              <a:rPr lang="en-US"/>
              <a:t> U cilju lakšeg korišćenja Spring Cloud LoadBalancer-a obezbjeđen je </a:t>
            </a:r>
            <a:r>
              <a:rPr lang="en-US" i="1">
                <a:ea typeface="+mn-lt"/>
                <a:cs typeface="+mn-lt"/>
              </a:rPr>
              <a:t>ReactorLoadBalancerExchangeFilterFunction</a:t>
            </a:r>
            <a:r>
              <a:rPr lang="en-US">
                <a:ea typeface="+mn-lt"/>
                <a:cs typeface="+mn-lt"/>
              </a:rPr>
              <a:t> koji može da se koristi sa </a:t>
            </a:r>
            <a:r>
              <a:rPr lang="en-US" i="1">
                <a:ea typeface="+mn-lt"/>
                <a:cs typeface="+mn-lt"/>
              </a:rPr>
              <a:t>WebClient</a:t>
            </a:r>
            <a:r>
              <a:rPr lang="en-US">
                <a:ea typeface="+mn-lt"/>
                <a:cs typeface="+mn-lt"/>
              </a:rPr>
              <a:t> i </a:t>
            </a:r>
            <a:r>
              <a:rPr lang="en-US" i="1">
                <a:ea typeface="+mn-lt"/>
                <a:cs typeface="+mn-lt"/>
              </a:rPr>
              <a:t>BlockingLoadBalancerClient </a:t>
            </a:r>
            <a:r>
              <a:rPr lang="en-US">
                <a:ea typeface="+mn-lt"/>
                <a:cs typeface="+mn-lt"/>
              </a:rPr>
              <a:t>koji radi sa </a:t>
            </a:r>
            <a:r>
              <a:rPr lang="en-US" i="1">
                <a:ea typeface="+mn-lt"/>
                <a:cs typeface="+mn-lt"/>
              </a:rPr>
              <a:t>RestTemplate</a:t>
            </a:r>
            <a:r>
              <a:rPr lang="en-US">
                <a:ea typeface="+mn-lt"/>
                <a:cs typeface="+mn-lt"/>
              </a:rPr>
              <a:t>. </a:t>
            </a:r>
            <a:endParaRPr lang="en-US" dirty="0">
              <a:ea typeface="+mn-lt"/>
              <a:cs typeface="+mn-lt"/>
            </a:endParaRPr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6E4A5-AD4A-4580-B4A6-E8277A39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9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928B-80E5-4339-B3BA-D8C697F6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Spring Cloud LoadBalancer - Caching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8055-87FD-4A5D-8432-2660A65EC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20B0602020104020603" pitchFamily="34" charset="0"/>
              <a:buChar char="§"/>
            </a:pPr>
            <a:r>
              <a:rPr lang="en-US">
                <a:ea typeface="+mn-lt"/>
                <a:cs typeface="+mn-lt"/>
              </a:rPr>
              <a:t> Pored klasične </a:t>
            </a:r>
            <a:r>
              <a:rPr lang="en-US" i="1">
                <a:ea typeface="+mn-lt"/>
                <a:cs typeface="+mn-lt"/>
              </a:rPr>
              <a:t>ServiceInstanceListSupplier</a:t>
            </a:r>
            <a:r>
              <a:rPr lang="en-US">
                <a:ea typeface="+mn-lt"/>
                <a:cs typeface="+mn-lt"/>
              </a:rPr>
              <a:t> implementacije koja preuzima instance preko </a:t>
            </a:r>
            <a:r>
              <a:rPr lang="en-US" i="1">
                <a:ea typeface="+mn-lt"/>
                <a:cs typeface="+mn-lt"/>
              </a:rPr>
              <a:t>DiscoveryClient</a:t>
            </a:r>
            <a:r>
              <a:rPr lang="en-US">
                <a:ea typeface="+mn-lt"/>
                <a:cs typeface="+mn-lt"/>
              </a:rPr>
              <a:t> svaki put kada bira instance, obezbjeđene su dvije caching implementacije:</a:t>
            </a:r>
            <a:endParaRPr lang="en-US" i="1" dirty="0">
              <a:ea typeface="+mn-lt"/>
              <a:cs typeface="+mn-lt"/>
            </a:endParaRPr>
          </a:p>
          <a:p>
            <a:r>
              <a:rPr lang="en-US" b="1" dirty="0">
                <a:hlinkClick r:id="rId2"/>
              </a:rPr>
              <a:t>Caffeine</a:t>
            </a:r>
            <a:r>
              <a:rPr lang="en-US" b="1"/>
              <a:t>-backed LoadBalancer Cache Implementation</a:t>
            </a:r>
            <a:endParaRPr lang="en-US" dirty="0"/>
          </a:p>
          <a:p>
            <a:r>
              <a:rPr lang="en-US" b="1" dirty="0">
                <a:hlinkClick r:id="rId3"/>
              </a:rPr>
              <a:t>Default LoadBalancer Cache Implementation</a:t>
            </a:r>
            <a:endParaRPr lang="en-US" dirty="0"/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6E4A5-AD4A-4580-B4A6-E8277A39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928B-80E5-4339-B3BA-D8C697F6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Spring Cloud LoadBalancer – ZONE-Based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8055-87FD-4A5D-8432-2660A65EC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20B0602020104020603" pitchFamily="34" charset="0"/>
              <a:buChar char="§"/>
            </a:pPr>
            <a:r>
              <a:rPr lang="en-US"/>
              <a:t> Za zone-based load-balancing se koriste posebni filteri kao što je </a:t>
            </a:r>
            <a:r>
              <a:rPr lang="en-US" i="1">
                <a:ea typeface="+mn-lt"/>
                <a:cs typeface="+mn-lt"/>
              </a:rPr>
              <a:t>ZonePreferenceServiceInstanceListSupplier</a:t>
            </a:r>
            <a:r>
              <a:rPr lang="en-US">
                <a:ea typeface="+mn-lt"/>
                <a:cs typeface="+mn-lt"/>
              </a:rPr>
              <a:t> koji obezbjeđuju preuzimanje instance iz Discovery Client ali samo pod uslovom da pripadaju traženoj zoni.</a:t>
            </a:r>
            <a:endParaRPr lang="en-US"/>
          </a:p>
          <a:p>
            <a:pPr>
              <a:buFont typeface="Wingdings" panose="020B0602020104020603" pitchFamily="34" charset="0"/>
              <a:buChar char="§"/>
            </a:pPr>
            <a:r>
              <a:rPr lang="en-US"/>
              <a:t>Korisniku je prepuštena custom implementacija zone-based load-balancinga.</a:t>
            </a:r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6E4A5-AD4A-4580-B4A6-E8277A39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250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928B-80E5-4339-B3BA-D8C697F6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Spring Cloud LoadBalancer – Health-check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8055-87FD-4A5D-8432-2660A65EC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20B0602020104020603" pitchFamily="34" charset="0"/>
              <a:buChar char="§"/>
            </a:pPr>
            <a:r>
              <a:rPr lang="en-US"/>
              <a:t> Moguće je ugraditi I health-check unutar spring cloud load-balancera koji će provjeravati da li su "žive" instance specificirane putem </a:t>
            </a:r>
            <a:r>
              <a:rPr lang="en-US" i="1">
                <a:ea typeface="+mn-lt"/>
                <a:cs typeface="+mn-lt"/>
              </a:rPr>
              <a:t>ServiceInstanceListSupplier.</a:t>
            </a:r>
            <a:endParaRPr lang="en-US" i="1"/>
          </a:p>
          <a:p>
            <a:pPr>
              <a:buFont typeface="Wingdings" panose="020B0602020104020603" pitchFamily="34" charset="0"/>
              <a:buChar char="§"/>
            </a:pPr>
            <a:r>
              <a:rPr lang="en-US" dirty="0"/>
              <a:t> </a:t>
            </a:r>
            <a:r>
              <a:rPr lang="en-US"/>
              <a:t>Za ove potrebe obezbjeđen je </a:t>
            </a:r>
            <a:r>
              <a:rPr lang="en-US" i="1">
                <a:ea typeface="+mn-lt"/>
                <a:cs typeface="+mn-lt"/>
              </a:rPr>
              <a:t>HealthCheckServiceInstanceListSupplier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6E4A5-AD4A-4580-B4A6-E8277A39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05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928B-80E5-4339-B3BA-D8C697F6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Spring Cloud LoadBalancer – Starter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8055-87FD-4A5D-8432-2660A65EC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20B0602020104020603" pitchFamily="34" charset="0"/>
              <a:buChar char="§"/>
            </a:pPr>
            <a:r>
              <a:rPr lang="en-US"/>
              <a:t> Za jednostavno pokretanje Spring Cloud LoadBalancer- a putem Spring Boot aplikacije koristi se dependency:</a:t>
            </a:r>
            <a:br>
              <a:rPr lang="en-US" dirty="0"/>
            </a:br>
            <a:r>
              <a:rPr lang="en-US" dirty="0"/>
              <a:t> </a:t>
            </a:r>
            <a:r>
              <a:rPr lang="en-US" sz="2400"/>
              <a:t>org</a:t>
            </a:r>
            <a:r>
              <a:rPr lang="en-US" sz="2400">
                <a:ea typeface="+mn-lt"/>
                <a:cs typeface="+mn-lt"/>
              </a:rPr>
              <a:t>.springframework.cloud:spring-cloud-starter-loadbalancer </a:t>
            </a:r>
            <a:endParaRPr lang="en-US" sz="2400"/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6E4A5-AD4A-4580-B4A6-E8277A39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5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928B-80E5-4339-B3BA-D8C697F6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Spring Cloud LoadBalancer – Passing Configuration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8055-87FD-4A5D-8432-2660A65EC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20B0602020104020603" pitchFamily="34" charset="0"/>
              <a:buChar char="§"/>
            </a:pPr>
            <a:r>
              <a:rPr lang="en-US"/>
              <a:t> Pomoću anotacije @</a:t>
            </a:r>
            <a:r>
              <a:rPr lang="en-US">
                <a:ea typeface="+mn-lt"/>
                <a:cs typeface="+mn-lt"/>
              </a:rPr>
              <a:t>LoadBalancerClient dajemo ime load-balancer klijenta i klasu u kojoj pišemo našu konfiguraciju.</a:t>
            </a:r>
            <a:endParaRPr lang="en-US" sz="2400">
              <a:ea typeface="+mn-lt"/>
              <a:cs typeface="+mn-lt"/>
            </a:endParaRPr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  <a:p>
            <a:pPr>
              <a:buFont typeface="Wingdings" panose="020B0602020104020603" pitchFamily="34" charset="0"/>
              <a:buChar char="§"/>
            </a:pPr>
            <a:r>
              <a:rPr lang="en-US"/>
              <a:t>PRIMJER: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  <a:hlinkClick r:id="rId2"/>
              </a:rPr>
              <a:t>https://github.com/tmiroslav97/SMPUOS-spring-cloud-loadbalancer</a:t>
            </a:r>
            <a:r>
              <a:rPr lang="en-US" dirty="0">
                <a:ea typeface="+mn-lt"/>
                <a:cs typeface="+mn-lt"/>
              </a:rPr>
              <a:t> </a:t>
            </a:r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6E4A5-AD4A-4580-B4A6-E8277A39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35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928B-80E5-4339-B3BA-D8C697F6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Izvori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8055-87FD-4A5D-8432-2660A65EC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20B0602020104020603" pitchFamily="34" charset="0"/>
              <a:buChar char="§"/>
            </a:pPr>
            <a:r>
              <a:rPr lang="en-US" dirty="0"/>
              <a:t> </a:t>
            </a:r>
            <a:r>
              <a:rPr lang="en-US" dirty="0">
                <a:ea typeface="+mn-lt"/>
                <a:cs typeface="+mn-lt"/>
                <a:hlinkClick r:id="rId2"/>
              </a:rPr>
              <a:t>https://cloud.spring.io/spring-cloud-commons/reference/html/#spring-cloud-loadbalancer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>
              <a:ea typeface="+mn-lt"/>
              <a:cs typeface="+mn-lt"/>
            </a:endParaRPr>
          </a:p>
          <a:p>
            <a:pPr>
              <a:buFont typeface="Wingdings" panose="020B0602020104020603" pitchFamily="34" charset="0"/>
              <a:buChar char="§"/>
            </a:pPr>
            <a:r>
              <a:rPr lang="en-US" dirty="0">
                <a:ea typeface="+mn-lt"/>
                <a:cs typeface="+mn-lt"/>
                <a:hlinkClick r:id="rId3"/>
              </a:rPr>
              <a:t> https://spring.io/guides/gs/spring-cloud-loadbalancer/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/>
          </a:p>
          <a:p>
            <a:pPr>
              <a:buFont typeface="Wingdings" panose="020B0602020104020603" pitchFamily="34" charset="0"/>
              <a:buChar char="§"/>
            </a:pP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  <a:hlinkClick r:id="rId4"/>
              </a:rPr>
              <a:t>https://en.wikipedia.org/wiki/Load_balancing_(computing)</a:t>
            </a:r>
            <a:r>
              <a:rPr lang="en-US" dirty="0">
                <a:ea typeface="+mn-lt"/>
                <a:cs typeface="+mn-lt"/>
              </a:rPr>
              <a:t> </a:t>
            </a:r>
          </a:p>
          <a:p>
            <a:pPr>
              <a:buFont typeface="Wingdings" panose="020B0602020104020603" pitchFamily="34" charset="0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F5864-A50B-45A3-866A-01306E3A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043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Integral</vt:lpstr>
      <vt:lpstr>Spring Cloud LoadBalancer</vt:lpstr>
      <vt:lpstr>Šta je load balancing?</vt:lpstr>
      <vt:lpstr>Algoritmi load balancing- a</vt:lpstr>
      <vt:lpstr>Spring Cloud LoadBalancer</vt:lpstr>
      <vt:lpstr>Spring Cloud LoadBalancer</vt:lpstr>
      <vt:lpstr>Spring Cloud LoadBalancer</vt:lpstr>
      <vt:lpstr>Spring Cloud LoadBalancer - integrations</vt:lpstr>
      <vt:lpstr>Spring Cloud LoadBalancer - Caching</vt:lpstr>
      <vt:lpstr>Spring Cloud LoadBalancer – ZONE-Based </vt:lpstr>
      <vt:lpstr>Spring Cloud LoadBalancer – Health-check</vt:lpstr>
      <vt:lpstr>Spring Cloud LoadBalancer – Starter</vt:lpstr>
      <vt:lpstr>Spring Cloud LoadBalancer – Passing Configuration</vt:lpstr>
      <vt:lpstr>Izvori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274</cp:revision>
  <dcterms:created xsi:type="dcterms:W3CDTF">2021-01-09T11:17:09Z</dcterms:created>
  <dcterms:modified xsi:type="dcterms:W3CDTF">2021-01-13T14:25:18Z</dcterms:modified>
</cp:coreProperties>
</file>